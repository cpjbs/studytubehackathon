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3913632"/>
            <a:ext cx="2834640" cy="63500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B9C2D6"/>
                </a:solidFill>
              </a:rPr>
              <a:t>STUDYTUBE  ×  UNMUTED   ·   GTM AI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3172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FFFFFF"/>
                </a:solidFill>
              </a:rPr>
              <a:t>LEARN</a:t>
            </a:r>
            <a:r>
              <a:rPr sz="9600" b="1">
                <a:solidFill>
                  <a:srgbClr val="F05A28"/>
                </a:solidFill>
              </a:rPr>
              <a:t>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</a:rPr>
              <a:t>One machine, three rooms.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9C2D6"/>
                </a:solidFill>
              </a:rPr>
              <a:t>A fictional company with a very real problem   ·   16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300">
                <a:solidFill>
                  <a:srgbClr val="F05A28"/>
                </a:solidFill>
              </a:rPr>
              <a:t>THE BACKSTORY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772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</a:rPr>
              <a:t>A winning company that cannot afford its own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358384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5568" y="2011680"/>
            <a:ext cx="457200" cy="50800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121408"/>
            <a:ext cx="4773168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13D"/>
                </a:solidFill>
              </a:defRPr>
            </a:pPr>
            <a:r>
              <a:t>WHAT IT IS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defRPr sz="1300" b="0">
                <a:solidFill>
                  <a:srgbClr val="5E6675"/>
                </a:solidFill>
              </a:defRPr>
            </a:pPr>
            <a:r>
              <a:t>B2B learning platform, Amsterdam, 2019. Most tools prove your people finished the training. LearnLoop proves the skill landed.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defRPr sz="1400" b="1">
                <a:solidFill>
                  <a:srgbClr val="F05A28"/>
                </a:solidFill>
              </a:defRPr>
            </a:pPr>
            <a:r>
              <a:t>EUR 30M ARR  ·  55% growth  ·  750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737360"/>
            <a:ext cx="5358384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56832" y="2011680"/>
            <a:ext cx="457200" cy="50800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121408"/>
            <a:ext cx="4773168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13D"/>
                </a:solidFill>
              </a:defRPr>
            </a:pPr>
            <a:r>
              <a:t>GROWING NEW MARKETS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defRPr sz="1300" b="0">
                <a:solidFill>
                  <a:srgbClr val="5E6675"/>
                </a:solidFill>
              </a:defRPr>
            </a:pPr>
            <a:r>
              <a:t>DACH first: a Berlin pod and 9 German logos, all won warm. Spain is next. The board wrote down a bigger number.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defRPr sz="1400" b="1">
                <a:solidFill>
                  <a:srgbClr val="F05A28"/>
                </a:solidFill>
              </a:defRPr>
            </a:pPr>
            <a:r>
              <a:t>EUR 200M ARR by 2030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33087"/>
            <a:ext cx="5358384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568" y="4407407"/>
            <a:ext cx="457200" cy="50800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17135"/>
            <a:ext cx="4773168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13D"/>
                </a:solidFill>
              </a:defRPr>
            </a:pPr>
            <a:r>
              <a:t>THE STRATEGY WORKS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defRPr sz="1300" b="0">
                <a:solidFill>
                  <a:srgbClr val="5E6675"/>
                </a:solidFill>
              </a:defRPr>
            </a:pPr>
            <a:r>
              <a:t>The product wins deals. Customers renew. The pitch lands. Nobody in this story is failing; this is not a turnaround.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defRPr sz="1400" b="1">
                <a:solidFill>
                  <a:srgbClr val="F05A28"/>
                </a:solidFill>
              </a:defRPr>
            </a:pPr>
            <a:r>
              <a:t>The playbook is right. It lives in 6 heads.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4133087"/>
            <a:ext cx="5358384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56832" y="4407407"/>
            <a:ext cx="457200" cy="50800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4517135"/>
            <a:ext cx="4773168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13D"/>
                </a:solidFill>
              </a:defRPr>
            </a:pPr>
            <a:r>
              <a:t>A SYSTEM IS NEEDED</a:t>
            </a:r>
          </a:p>
          <a:p>
            <a:pPr algn="l">
              <a:lnSpc>
                <a:spcPct val="108000"/>
              </a:lnSpc>
              <a:spcBef>
                <a:spcPts val="500"/>
              </a:spcBef>
              <a:defRPr sz="1300" b="0">
                <a:solidFill>
                  <a:srgbClr val="5E6675"/>
                </a:solidFill>
              </a:defRPr>
            </a:pPr>
            <a:r>
              <a:t>Every euro of pipeline still scales with headcount. When the warm network ran dry, templates took over.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defRPr sz="1400" b="1">
                <a:solidFill>
                  <a:srgbClr val="F05A28"/>
                </a:solidFill>
              </a:defRPr>
            </a:pPr>
            <a:r>
              <a:t>3,200 emails  ·  13 replies  ·  0.4%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300">
                <a:solidFill>
                  <a:srgbClr val="F05A28"/>
                </a:solidFill>
              </a:rPr>
              <a:t>THE BRIEFS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772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4213D"/>
                </a:solidFill>
              </a:rPr>
              <a:t>Great GTM runs on three skills. Build them as machines.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529584" cy="3977639"/>
          </a:xfrm>
          <a:prstGeom prst="roundRect">
            <a:avLst>
              <a:gd name="adj" fmla="val 3000"/>
            </a:avLst>
          </a:prstGeom>
          <a:solidFill>
            <a:srgbClr val="1C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039112"/>
            <a:ext cx="2907792" cy="3465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5A28"/>
                </a:solidFill>
              </a:rPr>
              <a:t>01  </a:t>
            </a:r>
            <a:r>
              <a:rPr sz="1600" b="1">
                <a:solidFill>
                  <a:srgbClr val="B9C2D6"/>
                </a:solidFill>
              </a:rPr>
              <a:t>SENSE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defRPr sz="1900" b="1">
                <a:solidFill>
                  <a:srgbClr val="FFFFFF"/>
                </a:solidFill>
              </a:defRPr>
            </a:pPr>
            <a:r>
              <a:t>The Signal Room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  <a:defRPr sz="1250" b="0">
                <a:solidFill>
                  <a:srgbClr val="B9C2D6"/>
                </a:solidFill>
              </a:defRPr>
            </a:pPr>
            <a:r>
              <a:t>The market emits signals; nobody is catching them.</a:t>
            </a:r>
          </a:p>
          <a:p>
            <a:pPr algn="l">
              <a:lnSpc>
                <a:spcPct val="108000"/>
              </a:lnSpc>
              <a:spcBef>
                <a:spcPts val="1400"/>
              </a:spcBef>
              <a:defRPr sz="1050" b="1">
                <a:solidFill>
                  <a:srgbClr val="F05A28"/>
                </a:solidFill>
              </a:defRPr>
            </a:pPr>
            <a:r>
              <a:t>YOU BUILD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defRPr sz="1350" b="0">
                <a:solidFill>
                  <a:srgbClr val="FFFFFF"/>
                </a:solidFill>
              </a:defRPr>
            </a:pPr>
            <a:r>
              <a:t>A system that decides: which of the 50 accounts do we reach out to, why now, and with what hook.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1783080"/>
            <a:ext cx="3529584" cy="3977639"/>
          </a:xfrm>
          <a:prstGeom prst="roundRect">
            <a:avLst>
              <a:gd name="adj" fmla="val 3000"/>
            </a:avLst>
          </a:prstGeom>
          <a:solidFill>
            <a:srgbClr val="1C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46904" y="2039112"/>
            <a:ext cx="2907792" cy="3465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5A28"/>
                </a:solidFill>
              </a:rPr>
              <a:t>02  </a:t>
            </a:r>
            <a:r>
              <a:rPr sz="1600" b="1">
                <a:solidFill>
                  <a:srgbClr val="B9C2D6"/>
                </a:solidFill>
              </a:rPr>
              <a:t>SPEAK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defRPr sz="1900" b="1">
                <a:solidFill>
                  <a:srgbClr val="FFFFFF"/>
                </a:solidFill>
              </a:defRPr>
            </a:pPr>
            <a:r>
              <a:t>The Brand Voice Machine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  <a:defRPr sz="1250" b="0">
                <a:solidFill>
                  <a:srgbClr val="B9C2D6"/>
                </a:solidFill>
              </a:defRPr>
            </a:pPr>
            <a:r>
              <a:t>Six authors, three languages, a voice drifting into filler.</a:t>
            </a:r>
          </a:p>
          <a:p>
            <a:pPr algn="l">
              <a:lnSpc>
                <a:spcPct val="108000"/>
              </a:lnSpc>
              <a:spcBef>
                <a:spcPts val="1400"/>
              </a:spcBef>
              <a:defRPr sz="1050" b="1">
                <a:solidFill>
                  <a:srgbClr val="F05A28"/>
                </a:solidFill>
              </a:defRPr>
            </a:pPr>
            <a:r>
              <a:t>YOU BUILD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defRPr sz="1350" b="0">
                <a:solidFill>
                  <a:srgbClr val="FFFFFF"/>
                </a:solidFill>
              </a:defRPr>
            </a:pPr>
            <a:r>
              <a:t>A production line: content brief in, on-voice asset out, in the ICP's own language. Every market, every format.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49056" y="1783080"/>
            <a:ext cx="3529584" cy="3977639"/>
          </a:xfrm>
          <a:prstGeom prst="roundRect">
            <a:avLst>
              <a:gd name="adj" fmla="val 3000"/>
            </a:avLst>
          </a:prstGeom>
          <a:solidFill>
            <a:srgbClr val="1C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9952" y="2039112"/>
            <a:ext cx="2907792" cy="3465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5A28"/>
                </a:solidFill>
              </a:rPr>
              <a:t>03  </a:t>
            </a:r>
            <a:r>
              <a:rPr sz="1600" b="1">
                <a:solidFill>
                  <a:srgbClr val="B9C2D6"/>
                </a:solidFill>
              </a:rPr>
              <a:t>REACH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defRPr sz="1900" b="1">
                <a:solidFill>
                  <a:srgbClr val="FFFFFF"/>
                </a:solidFill>
              </a:defRPr>
            </a:pPr>
            <a:r>
              <a:t>The Account Penetration Machine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  <a:defRPr sz="1250" b="0">
                <a:solidFill>
                  <a:srgbClr val="B9C2D6"/>
                </a:solidFill>
              </a:defRPr>
            </a:pPr>
            <a:r>
              <a:t>Well-researched accounts, barely penetrated. 0.4% replies.</a:t>
            </a:r>
          </a:p>
          <a:p>
            <a:pPr algn="l">
              <a:lnSpc>
                <a:spcPct val="108000"/>
              </a:lnSpc>
              <a:spcBef>
                <a:spcPts val="1400"/>
              </a:spcBef>
              <a:defRPr sz="1050" b="1">
                <a:solidFill>
                  <a:srgbClr val="F05A28"/>
                </a:solidFill>
              </a:defRPr>
            </a:pPr>
            <a:r>
              <a:t>YOU BUILD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defRPr sz="1350" b="0">
                <a:solidFill>
                  <a:srgbClr val="FFFFFF"/>
                </a:solidFill>
              </a:defRPr>
            </a:pPr>
            <a:r>
              <a:t>A distribution engine: prioritized account in, the play out. Right door, right person, right moment.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E6675"/>
                </a:solidFill>
              </a:rPr>
              <a:t>Each team gets one brief. Each brief stands alone. And remember: it is a full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